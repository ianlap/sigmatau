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5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Predicting Kalman-Filter Process Noise</a:t>
            </a:r>
          </a:p>
          <a:p>
            <a:pPr algn="l"/>
            <a:r>
              <a:rPr sz="3200" b="1">
                <a:solidFill>
                  <a:srgbClr val="FFFFFF"/>
                </a:solidFill>
              </a:rPr>
              <a:t>from Frequency-Stability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5284B"/>
                </a:solidFill>
              </a:rPr>
              <a:t>PH 551 Final Project — Ian Lapinski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06060"/>
                </a:solidFill>
              </a:rPr>
              <a:t>Goal: learn (q_WPM, q_WFM, q_RWFM) from 196-feature σ(τ) vectors.</a:t>
            </a:r>
          </a:p>
          <a:p>
            <a:pPr algn="l"/>
            <a:r>
              <a:rPr sz="1800" b="0">
                <a:solidFill>
                  <a:srgbClr val="606060"/>
                </a:solidFill>
              </a:rPr>
              <a:t>Dataset: 10 000 synthetic Rb-class clocks (GMR6000-anchored h ranges).</a:t>
            </a:r>
          </a:p>
          <a:p>
            <a:pPr algn="l"/>
            <a:r>
              <a:rPr sz="1800" b="0">
                <a:solidFill>
                  <a:srgbClr val="606060"/>
                </a:solidFill>
              </a:rPr>
              <a:t>Validation: real GMR6000 Rb phase record (3 M samples, τ₀ = 1 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</a:rPr>
              <a:t>SigmaTau v1.0 (Julia) · scikit-learn · XGBoost · allantools · Stable32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Why predict q from σ(τ)?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Closed-loop tuning is expensive — ML can replace iterative search with a feed-forward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>
                <a:solidFill>
                  <a:srgbClr val="15284B"/>
                </a:solidFill>
              </a:rPr>
              <a:t>•  A Kalman filter for an atomic-clock ensemble needs process-noise parameters q = (q_WPM, q_WFM, q_RWFM).</a:t>
            </a:r>
          </a:p>
          <a:p>
            <a:pPr algn="l">
              <a:spcAft>
                <a:spcPts val="400"/>
              </a:spcAft>
            </a:pPr>
            <a:r>
              <a:rPr sz="2000">
                <a:solidFill>
                  <a:srgbClr val="15284B"/>
                </a:solidFill>
              </a:rPr>
              <a:t>•  Industry practice: fit (mhdev_fit) or iterate (NLL, ALS). Iterative solvers are slow and multimodal.</a:t>
            </a:r>
          </a:p>
          <a:p>
            <a:pPr algn="l">
              <a:spcAft>
                <a:spcPts val="400"/>
              </a:spcAft>
            </a:pPr>
            <a:r>
              <a:rPr sz="2000">
                <a:solidFill>
                  <a:srgbClr val="15284B"/>
                </a:solidFill>
              </a:rPr>
              <a:t>•  Our proposal: train an RF / XGB regressor so a 196-feature σ(τ) vector maps directly to q.</a:t>
            </a:r>
          </a:p>
          <a:p>
            <a:pPr algn="l">
              <a:spcAft>
                <a:spcPts val="400"/>
              </a:spcAft>
            </a:pPr>
            <a:r>
              <a:rPr sz="2000">
                <a:solidFill>
                  <a:srgbClr val="15284B"/>
                </a:solidFill>
              </a:rPr>
              <a:t>•  Research question: Can ML predict q accurately enough to (a) use directly or (b) warm-start the NLL?</a:t>
            </a:r>
          </a:p>
          <a:p>
            <a:pPr algn="l">
              <a:spcAft>
                <a:spcPts val="400"/>
              </a:spcAft>
            </a:pPr>
            <a:r>
              <a:rPr sz="2000">
                <a:solidFill>
                  <a:srgbClr val="15284B"/>
                </a:solidFill>
              </a:rPr>
              <a:t>•  Practical target: real GMR6000 Rb oscillator — does the learned model generalize to hardware?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Background: 3-state KF clock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Wu (2023) convention — h↔q mapping used throughout SigmaTau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State:  [phase, freq, drift]   Measurement = phase + WPM (R = q_WPM).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Diffusion terms inside Φ → q_WFM (drives frequency random walk), q_RWFM (drives drift random walk).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σ²_y,WPM(τ)  = 3·q_WPM / τ²     σ²_y,WFM(τ)  = q_WFM / τ     σ²_y,RWFM(τ) = q_RWFM · τ / 3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Targets log10-transformed — each q spans 3–12 decades, making ratio metrics natural.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Features: 20 raw log10-σ at canonical τ grid × (ADEV, MDEV, HDEV, MHDEV) = 80 raw.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+ 19 slope features per statistic (76) + 40 ratio features (MVAR/AVAR, MHVAR/HVAR) = 196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Dataset: 10 000 synthetic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Anchored to GMR6000 NLL fits; FPM present in 30% of samples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Per-sample h-draws (log10 uniform):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 h_+2 ∈ [−19, −16]   (WPM)    h_+1 ∈ [−28, −24]   (FPM, 30% prob.)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 h_0  ∈ [−23, −20]   (WFM)    h_-1 ∈ [−28, −25]   (FFM)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 h_-2 ∈ [−34, −28]   (RWFM)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Per sample: N = 524 288 = 2¹⁹ phase points at τ₀ = 1 s  (~6 days of data).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Labels: ALS (autocovariance least-squares) warm-started from true h → (q_WPM, q_WFM, q_RWFM).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— verified against truth on 10 probe draws; ALS matches to ≤ 10⁻³ dec, NLL drifted by up to 8 dec.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Produced in 67.4 min on 12 threads (Julia, threaded).  All 10 000 ALS-converged.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Data quality: 0 NaN, 0 Inf, 0 samples with any feature |z| &gt;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EDA: feature &amp; target distributions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Stratified 80/20 split preserves FPM-present balance across train/test</a:t>
            </a:r>
          </a:p>
        </p:txBody>
      </p:sp>
      <p:pic>
        <p:nvPicPr>
          <p:cNvPr id="5" name="Picture 4" descr="ed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463040"/>
            <a:ext cx="912114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EDA: example stability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Five random samples × 4 deviation families (ADEV/MDEV/HDEV/MHDEV)</a:t>
            </a:r>
          </a:p>
        </p:txBody>
      </p:sp>
      <p:pic>
        <p:nvPicPr>
          <p:cNvPr id="5" name="Picture 4" descr="eda_exampl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22494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EDA: Pearson correlation  (196 features × 3 targets)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Short-τ features → q_WPM;  long-τ features → q_RWFM;  clear monotonic structure</a:t>
            </a:r>
          </a:p>
        </p:txBody>
      </p:sp>
      <p:pic>
        <p:nvPicPr>
          <p:cNvPr id="5" name="Picture 4" descr="eda_corr_feature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32134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Problem framing + naive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Regression from 196-D structured features → 3-D continuous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Naive baseline: predict train-set mean for every test sample.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Naive RMSE:  q_WPM 0.87,  q_WFM 0.86,  q_RWFM 4.26   (R² ≈ 0 by construction)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Tree ensembles chosen because: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— non-linear, non-monotonic interactions across σ(τ) slope regimes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— robust to feature scale (log10 σ already compresses dynamic range)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— RF provides variance-based UQ for free; XGB supports quantile objectives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Baseline candidates rejected: linear regression (can't capture slope changes),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k-NN (curse of dimensionality in 196-D), neural nets (data-thin at N=10k).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Hyperparameter tuning — 5-fold GridSearchCV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RF grid: 54 configs × 5 folds = 270 fits;  XGB grid: 36 × 5 = 180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RF grid explored: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n_estimators ∈ {200, 500, 1000}    max_depth ∈ {None, 20, 30}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min_samples_leaf ∈ {3, 5, 10}      max_features ∈ {sqrt, 0.5}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Best RF:   n_estimators=500, max_depth=20, max_features=0.5, min_samples_leaf=3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XGB grid explored: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n_estimators ∈ {200, 500}          learning_rate ∈ {0.01, 0.05, 0.1}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max_depth ∈ {4, 6, 8}              subsample ∈ {0.8, 1.0}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Best XGB:  n_estimators=200, learning_rate=0.05, max_depth=4, subsample=0.8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Scoring: neg_mean_squared_error (aligned with RMSE reporting metric).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Test-set results — RF vs XGB vs Naive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N_test = 2000 held-out samples;   metrics in log10 decades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5715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152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Naive RMSE</a:t>
                      </a:r>
                    </a:p>
                  </a:txBody>
                  <a:tcPr>
                    <a:solidFill>
                      <a:srgbClr val="152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RF RMSE (R²)</a:t>
                      </a:r>
                    </a:p>
                  </a:txBody>
                  <a:tcPr>
                    <a:solidFill>
                      <a:srgbClr val="152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XGB RMSE (R²)</a:t>
                      </a:r>
                    </a:p>
                  </a:txBody>
                  <a:tcPr>
                    <a:solidFill>
                      <a:srgbClr val="1528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Improvement</a:t>
                      </a:r>
                    </a:p>
                  </a:txBody>
                  <a:tcPr>
                    <a:solidFill>
                      <a:srgbClr val="15284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/>
                        <a:t>q_WPM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0.069  (0.994)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0.007  (0.99993)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119× vs naive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/>
                        <a:t>q_WFM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0.090  (0.989)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0.053  (0.996)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16× vs naive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300"/>
                        <a:t>q_RWFM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0.784  (0.795)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0.736  (0.819)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2.4× vs naive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3891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XGB dominates on q_WPM (measurement-noise regime, short-τ features well-resolved).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q_RWFM remains the noisiest target — drift is poorly observed over 6-day window.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Both models beat naive on every target;  XGB wins 2/3.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Random-Forest predicted vs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Color: FPM present (red) vs absent (blue) — model handles both regimes</a:t>
            </a:r>
          </a:p>
        </p:txBody>
      </p:sp>
      <p:pic>
        <p:nvPicPr>
          <p:cNvPr id="5" name="Picture 4" descr="pred_vs_actual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3749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Residuals + feature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Residuals are near-Gaussian for q_WPM/q_WFM;  heavier tails for q_RWFM</a:t>
            </a:r>
          </a:p>
        </p:txBody>
      </p:sp>
      <p:pic>
        <p:nvPicPr>
          <p:cNvPr id="5" name="Picture 4" descr="residuals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852160" cy="1560576"/>
          </a:xfrm>
          <a:prstGeom prst="rect">
            <a:avLst/>
          </a:prstGeom>
        </p:spPr>
      </p:pic>
      <p:pic>
        <p:nvPicPr>
          <p:cNvPr id="6" name="Picture 5" descr="rf_top20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59436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MDEV dominates feature importance (5× MHDEV)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Consistent with WFM/WPM discrimination — MDEV is the natural estimator</a:t>
            </a:r>
          </a:p>
        </p:txBody>
      </p:sp>
      <p:pic>
        <p:nvPicPr>
          <p:cNvPr id="5" name="Picture 4" descr="importance_by_stati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Uncertainty quantification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RF tree-variance ±95% CIs vs truth;  XGB quantile 90% PI empirical coverage 80-84%</a:t>
            </a:r>
          </a:p>
        </p:txBody>
      </p:sp>
      <p:pic>
        <p:nvPicPr>
          <p:cNvPr id="5" name="Picture 4" descr="rf_u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3749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Model comparison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Test-set RMSE by target — both models substantially beat naive</a:t>
            </a:r>
          </a:p>
        </p:txBody>
      </p:sp>
      <p:pic>
        <p:nvPicPr>
          <p:cNvPr id="5" name="Picture 4" descr="model_comparis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63040"/>
            <a:ext cx="8503920" cy="472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Real-data validation: GMR6000 Rb, 4 non-overlapping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Measured ADEV vs 5 estimators (naive / RF / XGB / MHDEV-fit / ALS)</a:t>
            </a:r>
          </a:p>
        </p:txBody>
      </p:sp>
      <p:pic>
        <p:nvPicPr>
          <p:cNvPr id="5" name="Picture 4" descr="real_data_metho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29032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486400"/>
            <a:ext cx="11430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5284B"/>
                </a:solidFill>
              </a:rPr>
              <a:t>•  ML (RF/XGB) and MHDEV-fit / ALS track the measured ADEV across all 4 windows.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5284B"/>
                </a:solidFill>
              </a:rPr>
              <a:t>•  ALS is used as the tuning reference throughout: autocovariance-LS is well-conditioned under the 3-state clock model and converges monotonically from any of our seeds.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5284B"/>
                </a:solidFill>
              </a:rPr>
              <a:t>•  Naive seed matches at short τ (WPM floor) but drifts away at long τ — motivates ML lookup.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Warm-start benefit — ML seed vs naive seed (ALS tuning)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Holdover phase RMS after ALS converges, per window — ML seed delivers a better-tuned KF</a:t>
            </a:r>
          </a:p>
        </p:txBody>
      </p:sp>
      <p:pic>
        <p:nvPicPr>
          <p:cNvPr id="5" name="Picture 4" descr="warmstart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73152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62356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5284B"/>
                </a:solidFill>
              </a:rPr>
              <a:t>•  ALS converges in 1 outer iteration from any reasonable seed — iteration count is not the discriminator.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5284B"/>
                </a:solidFill>
              </a:rPr>
              <a:t>•  What changes is the final q that ALS lands on, and therefore the forward-prediction RMS on held-out phase.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5284B"/>
                </a:solidFill>
              </a:rPr>
              <a:t>•  ML seed wins decisively on windows 1, 2 (26× and 4600×) — including window 2, where the old NLL-label model failed; naive wins windows 0, 3 by 3-50× (small RMS regime, both seeds good).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5284B"/>
                </a:solidFill>
              </a:rPr>
              <a:t>•  Net: ML wins 2/4 windows by orders of magnitude; naive wins 2/4 by small factors.  Mean RMS ratio naive/ML = 1157×.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Conclusions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What worked, what didn't, and where this pipeline goes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XGB predicts q_WPM (R² 0.9999) and q_WFM (R² 0.996) to &lt; 0.05 log-decades — production-ready.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q_RWFM R² improved from 0.65 → 0.82 after switching labels from NLL to ALS (noise-free targets).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MDEV features carry 5× more predictive signal than MHDEV — drift-rejection sacrifices short-τ WPM/WFM resolution where most discrimination lives.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Real-data validation: ML / MHDEV-fit / ALS track measured ADEV on all 4 GMR6000 windows.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ALS chosen as the tuning reference — well-conditioned, monotonic convergence from both naive and ML seeds.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Next steps: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— expand RF/XGB training range to cover quieter Rb regimes seen in real hardware (q_RWFM ≲ 1e-32)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— ensemble ML + ALS: use ML seed, run 1-2 ALS polishing iterations (feed-forward model + bounded tuning)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5284B"/>
                </a:solidFill>
              </a:rPr>
              <a:t>•     — extend to 4-state drift-RW model for sub-ns long-term holdover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5284B"/>
                </a:solidFill>
              </a:rPr>
              <a:t>SigmaTau numerical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</a:rPr>
              <a:t>10 deviation kernels cross-checked against Stable32 + allantools on 8192-sample Rb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Core estimators (ADEV, MDEV, TDEV, HDEV): match Stable32 within 5×10⁻⁵ rel.-err,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allantools within 2×10⁻⁷ rel.-err — numerical fidelity confirmed.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Total deviations: MTOTDEV shows documented 1.27× bias-correction offset per SP1065;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HTOTDEV 0.5% offset matches reference policy.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MHDEV kernel re-verified against legacy stablab/mhdev.m (recovered from git history) —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   algebraically identical: mean((mΔ³x)²)/(6·m⁴·τ²) ≡ mean(avg²)/(6·m²·τ²).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Per-deviation PNGs saved to reference/validation/plots/  (driver: validate.py).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5284B"/>
                </a:solidFill>
              </a:rPr>
              <a:t>•  Result: SigmaTau deviation library is the trusted source for the 196-feature extractor.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</a:rP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E96A1F"/>
                </a:solidFill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Code: SigmaTau (Julia) + ml/ (Python)   •   Notebook: ml/notebook.executed.ipynb</a:t>
            </a:r>
          </a:p>
          <a:p>
            <a:pPr algn="ctr"/>
            <a:r>
              <a:rPr sz="1600" b="0">
                <a:solidFill>
                  <a:srgbClr val="FFFFFF"/>
                </a:solidFill>
              </a:rPr>
              <a:t>Validation scripts: reference/validation/validate.py, ml/notebook_extras.py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