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KF Parameter Prediction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Frequency-Stability Curves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initial guesses for Kalman-filter tuning on atomic clock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36576" cy="731520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3075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Lapinski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April 20,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filters need good q-values. Getting them is slow.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33756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clock phase measurements.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don't know the q values.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want to optimize the Kalman filter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give me a quick initial guess.”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options: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NLL optimization — multi-minute, highly sensitive to warm start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— well-conditioned but iterative, needs seed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MHDEV fit — requires expert τ-region selection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691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supervised learning on frequency-stability features predict KF q-parameters accurately enough to seed or replace iterative optimizers?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stability statistic is most informative — ADEV, MDEV, HDEV, or MHDEV?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77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log₁₀(q0), log₁₀(q1), log₁₀(q2)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are everywhere — but their noise models aren't automatic.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70048" cy="320040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2670048" cy="73152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clocks drift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telecom, defense timing, scientific instrumentation. Operators get phase data; they want stability predictions.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325880"/>
            <a:ext cx="2670048" cy="320040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325880"/>
            <a:ext cx="2670048" cy="73152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55848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KF tuning is slow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NLL optimization: 10–60 s per sample, sensitive to warm start. Lab workflow bottleneck.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325880"/>
            <a:ext cx="2670048" cy="320040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325880"/>
            <a:ext cx="2670048" cy="73152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08776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can do it in 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08776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regressor: sub-millisecond inference on raw features. Quantified uncertainty included.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synthetic samples anchored to real GMR6000 Rb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56616" y="1417320"/>
            <a:ext cx="1554480" cy="10058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GMR6000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 phase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2336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days, 1 PPS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11096" y="1920240"/>
            <a:ext cx="16459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75688" y="1417320"/>
            <a:ext cx="15544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21408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Kasdin 1992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30168" y="1920240"/>
            <a:ext cx="16459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94760" y="1417320"/>
            <a:ext cx="15544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gen.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524,288 (~6 days)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49240" y="1920240"/>
            <a:ext cx="16459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13832" y="1417320"/>
            <a:ext cx="15544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196-feature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59552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ADEV, MDEV, HDEV, MHDEV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68312" y="1920240"/>
            <a:ext cx="16459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32904" y="1417320"/>
            <a:ext cx="1554480" cy="1005840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label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78624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noise-free vs truth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grounded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h_α ranges anchored to measured GMR6000 Rb (not arbitrary noise blends).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noise types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4600" y="35204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WPM + WFM + FFM + RWFM always; FPM in ~30% of samples.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log₁₀(q)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35204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Log-space equalizes multi-decade dynamic range; KF-native.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ALS-optimized labels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35204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Probed on 10 draws: ALS matches truth to ≤10⁻³ dec; NLL drifted ±8 dec.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features per sample from 20 log-spaced τ values.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decomposition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27632"/>
          <a:ext cx="4389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2514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σ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stats × 20 τ: log₁₀ of ADEV, MDEV, HDEV, MHDEV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Log-log slopes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stats × 19 adjacent-τ slopes (noise-type signature)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ratios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MVAR/AVAR (20) + MHVAR/HVAR (20) — bias-type detectors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Per-sample feature 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four statistics?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0" y="1645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ADEV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 reference; baseline comparison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MDEV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distinguishes WPM vs FPM (slope −3 vs −2)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HDEV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Hadamard; rejects frequency drift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MHDEV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modified Hadamard; best for long τ on drifting clocks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research hypothesis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36758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analysis will reveal which statistic carries the most information about KF noise parameters.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exploration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distributions, example σ(τ) curves, feature–target correlations.</a:t>
            </a:r>
            <a:endParaRPr lang="en-US" sz="1300" dirty="0"/>
          </a:p>
        </p:txBody>
      </p:sp>
      <p:pic>
        <p:nvPicPr>
          <p:cNvPr id="4" name="Image 0" descr="/home/ian/SigmaTau/ml/figures/eda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0"/>
            <a:ext cx="54864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89320" y="155448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span ~6 log decades (q2 widest; q0 tightest)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Short-τ features (top row) correlate strongest with q0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Long-τ features correlate with q2 (log₁₀ q ~ −30)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FPM-present samples (30%) have steeper short-τ slope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rate 0%; no outliers at |z|&gt;5 — clean dataset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baselines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bar: what does 'good' look like?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predictors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42062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32588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(log₁₀ 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(train mean)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/ 0.87 / 1.73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features (R² ≈ 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run)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Monotonic but nonlinear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MHDEV 3-region 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slide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Real-data only, requires expert τ-regions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 / 0.09 / 0.78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~12× better than naive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home/ian/SigmaTau/ml/figures/eda_corr_feature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80160"/>
            <a:ext cx="393192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3154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pattern above: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short-τ features drive q0; long-τ features drive q2.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but nonlinear — justifies tree ensembles over linear regression.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XGBoost, multi-output regression.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60520" cy="2468880"/>
          </a:xfrm>
          <a:prstGeom prst="rect">
            <a:avLst/>
          </a:prstGeom>
          <a:solidFill>
            <a:srgbClr val="F5F7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416052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ensemble of decision trees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UQ via tree-variance (forestci)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to monotone feature transforms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baseline for tabular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4160520" cy="2468880"/>
          </a:xfrm>
          <a:prstGeom prst="rect">
            <a:avLst/>
          </a:prstGeom>
          <a:solidFill>
            <a:srgbClr val="F5F7FB"/>
          </a:solidFill>
          <a:ln w="19050">
            <a:solidFill>
              <a:srgbClr val="E94F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280160"/>
            <a:ext cx="4160520" cy="91440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F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(Gradient Boosted)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8745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 — corrects errors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~1–3× better RMSE than RF on tabular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via quantile regression (α=0.05, 0.95)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for multi-output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38862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on identical features. Different bias/variance tradeoffs → diagnostic of whether signal is smooth (boosting wins) or rough (RF wins). UQ mechanisms differ — cross-check coverage.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5-fold GridSearchCV: expand, then re-center around boundary winners.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grid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72768"/>
          <a:ext cx="4114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54480"/>
                <a:gridCol w="1143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{1000, 1500, 2000}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{20}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 2, 3}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{0.5}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grid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72768"/>
          <a:ext cx="4114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54480"/>
                <a:gridCol w="1143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F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F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F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{500, 750, 1000}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{0.003, 0.01}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{6}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{0.7, 0.8}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611880"/>
            <a:ext cx="841248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protocol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 •  Pass 1 landed on boundaries (n_est top, lr bottom, subsample bottom)  •  </a:t>
            </a:r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probe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45 RF + 60 XGB fits centered on pass-1 winners, extending past boundaries  →  </a:t>
            </a:r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winners are interior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scoring = neg-MSE in log₁₀-q; seed = 42.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metrics + model comparison.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480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005840"/>
                <a:gridCol w="100584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ian/SigmaTau/ml/figures/model_comparison_r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234440"/>
            <a:ext cx="3749040" cy="2651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→ &lt;0.05-dec RMSE on q0 &amp; q1 (R² ≥ 0.997);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R² = 0.82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0.65 before switching labels from NLL → ALS).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quantification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Grad-student requirement — the model knows when it doesn't know.</a:t>
            </a:r>
            <a:endParaRPr lang="en-US" sz="1300" dirty="0"/>
          </a:p>
        </p:txBody>
      </p:sp>
      <p:pic>
        <p:nvPicPr>
          <p:cNvPr id="4" name="Image 0" descr="/home/ian/SigmaTau/ml/figures/rf_u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30352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approaches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15000" y="15544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forestci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Infinitesimal jackknife on tree predictions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analytic variance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quantile 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models at α=0.05, α=0.95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non-parametric prediction intervals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15000" y="3657600"/>
            <a:ext cx="3108960" cy="914400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37307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90% PI coverage (XGB):
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 84%   q1 81%   q2 81%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statistic carries the signal?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feature-importance answer to the sub-question.</a:t>
            </a:r>
            <a:endParaRPr lang="en-US" sz="1300" dirty="0"/>
          </a:p>
        </p:txBody>
      </p:sp>
      <p:pic>
        <p:nvPicPr>
          <p:cNvPr id="4" name="Image 0" descr="/home/ian/SigmaTau/ml/figures/importance_by_stati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3949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06440" y="1572768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MDEV dominates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 importance ≈ 0.59)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MHDEV 5× less important (Σ ≈ 0.12)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ADEV / HDEV contribute the remaining ~0.29
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Slopes carry more signal than raw σ values 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noise-type diagnostics driving q.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06440" y="3931920"/>
            <a:ext cx="3017520" cy="594360"/>
          </a:xfrm>
          <a:prstGeom prst="rect">
            <a:avLst/>
          </a:prstGeom>
          <a:solidFill>
            <a:srgbClr val="F5F7FB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MDEV is the most informative stability statistic for KF tuning.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Real-data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GMR6000 Rb phase → ML prediction → ADEV overlay on 4 windows.</a:t>
            </a:r>
            <a:endParaRPr lang="en-US" sz="1300" dirty="0"/>
          </a:p>
        </p:txBody>
      </p:sp>
      <p:pic>
        <p:nvPicPr>
          <p:cNvPr id="4" name="Image 0" descr="/home/ian/SigmaTau/ml/figures/real_data_metho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886968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343400"/>
            <a:ext cx="841248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&amp; XGB σ(τ) predictions track measured ADEV across all 4 windows —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generalizes from synthetic to real hardware.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&amp;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743200" cy="3520440"/>
          </a:xfrm>
          <a:prstGeom prst="rect">
            <a:avLst/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16916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labels → noise-free targets (key finding; lifted q2 R² from 0.65 → 0.82)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→ 0.004-dec RMSE on q0 (R² = 0.99998); &lt;0.05-dec on q1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forestci + quantile UQ → 80–84% empirical coverage of nominal 90% PIs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→ MDEV quantitatively most informative (5× MHDEV)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27832" y="1097280"/>
            <a:ext cx="2743200" cy="3520440"/>
          </a:xfrm>
          <a:prstGeom prst="rect">
            <a:avLst/>
          </a:prstGeom>
          <a:solidFill>
            <a:srgbClr val="F5F7FB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27832" y="1097280"/>
            <a:ext cx="2743200" cy="73152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F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92424" y="16916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Rb GMR6000-class h-ranges only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KF model lacks flicker-FM — limits long-horizon holdover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real-data record (6k27feb) for cross-check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90% PI under-covers by 6–10 pp (conservative regularization)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9904" y="1097280"/>
            <a:ext cx="2743200" cy="3520440"/>
          </a:xfrm>
          <a:prstGeom prst="rect">
            <a:avLst/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9904" y="109728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54496" y="16916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OCXO, HSO, cesium training ranges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4-state model with explicit FFM for sub-ns long-term holdover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NN on raw phase (current: hand-crafted features)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on where the model is least confident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551 Final Project  •  Ian Lapinski  •  Apr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36576" cy="1097280"/>
          </a:xfrm>
          <a:prstGeom prst="rect">
            <a:avLst/>
          </a:prstGeom>
          <a:solidFill>
            <a:srgbClr val="E94F64"/>
          </a:solidFill>
          <a:ln w="12700">
            <a:solidFill>
              <a:srgbClr val="E94F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64992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github.com/ianlap/SigmaTau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Lapinski  •  PH 551 Final Project  •  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 Parameter Prediction from Stability Curves</dc:title>
  <dc:subject>PptxGenJS Presentation</dc:subject>
  <dc:creator>Ian Lapinski</dc:creator>
  <cp:lastModifiedBy>Ian Lapinski</cp:lastModifiedBy>
  <cp:revision>1</cp:revision>
  <dcterms:created xsi:type="dcterms:W3CDTF">2026-04-20T10:14:57Z</dcterms:created>
  <dcterms:modified xsi:type="dcterms:W3CDTF">2026-04-20T10:14:57Z</dcterms:modified>
</cp:coreProperties>
</file>