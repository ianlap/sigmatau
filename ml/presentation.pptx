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KF Parameter Prediction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18745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Frequency-Stability Curves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6060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initial guesses for Kalman-filter tuning on atomic clock data.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3749040"/>
            <a:ext cx="36576" cy="731520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730752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Ian Lapinski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April 20,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 filters need good q-values. Getting them is slow.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4114800" cy="3337560"/>
          </a:xfrm>
          <a:prstGeom prst="rect">
            <a:avLst/>
          </a:prstGeom>
          <a:solidFill>
            <a:srgbClr val="F5F7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have clock phase measurements.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 don't know the q values.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 want to optimize the Kalman filter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give me a quick initial guess.”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options: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24612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NLL optimization — multi-minute, highly sensitive to warm start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— well-conditioned but iterative, needs seed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MHDEV fit — requires expert τ-region selection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0" y="1325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54880" y="1691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supervised learning on frequency-stability features predict KF q-parameters accurately enough to seed or replace iterative optimizers?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54880" y="29260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5488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stability statistic is most informative — ADEV, MDEV, HDEV, or MHDEV?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3977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Targets: log₁₀(q0), log₁₀(q1), log₁₀(q2)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it matters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Clocks are everywhere — but their noise models aren't automatic.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2670048" cy="3200400"/>
          </a:xfrm>
          <a:prstGeom prst="rect">
            <a:avLst/>
          </a:prstGeom>
          <a:solidFill>
            <a:srgbClr val="F5F7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325880"/>
            <a:ext cx="2670048" cy="73152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⏱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Atomic clocks drift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260604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GPS, telecom, defense timing, scientific instrumentation. Operators get phase data; they want stability predictions.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18688" y="1325880"/>
            <a:ext cx="2670048" cy="3200400"/>
          </a:xfrm>
          <a:prstGeom prst="rect">
            <a:avLst/>
          </a:prstGeom>
          <a:solidFill>
            <a:srgbClr val="F5F7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18688" y="1325880"/>
            <a:ext cx="2670048" cy="73152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⚙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35584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KF tuning is slow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55848" y="260604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NLL optimization: 10–60 s per sample, sensitive to warm start. Lab workflow bottleneck.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71616" y="1325880"/>
            <a:ext cx="2670048" cy="3200400"/>
          </a:xfrm>
          <a:prstGeom prst="rect">
            <a:avLst/>
          </a:prstGeom>
          <a:solidFill>
            <a:srgbClr val="F5F7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71616" y="1325880"/>
            <a:ext cx="2670048" cy="73152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08776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✦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08776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can do it in ms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08776" y="260604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regressor: sub-millisecond inference on raw features. Quantified uncertainty included.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pipeline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synthetic samples anchored to real GMR6000 Rb data.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56616" y="1417320"/>
            <a:ext cx="1554480" cy="100584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GMR6000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 phase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02336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days, 1 PPS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911096" y="1920240"/>
            <a:ext cx="164592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075688" y="1417320"/>
            <a:ext cx="155448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21408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h-range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21408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Kasdin 1992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630168" y="1920240"/>
            <a:ext cx="164592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794760" y="1417320"/>
            <a:ext cx="155448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0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gen.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40480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524,288 (~6 days)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349240" y="1920240"/>
            <a:ext cx="164592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513832" y="1417320"/>
            <a:ext cx="155448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59552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196-feature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559552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ADEV, MDEV, HDEV, MHDEV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068312" y="1920240"/>
            <a:ext cx="164592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232904" y="1417320"/>
            <a:ext cx="1554480" cy="1005840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78624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label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278624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noise-free vs truth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decisions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65760" y="32004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Physically grounded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3520440"/>
            <a:ext cx="2057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h_α ranges anchored to measured GMR6000 Rb (not arbitrary noise blends).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514600" y="32004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4+1 noise types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514600" y="3520440"/>
            <a:ext cx="2057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WPM + WFM + FFM + RWFM always; FPM in ~30% of samples.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63440" y="32004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are log₁₀(q)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663440" y="3520440"/>
            <a:ext cx="2057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Log-space equalizes multi-decade dynamic range; KF-native.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812280" y="32004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ALS-optimized labels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12280" y="3520440"/>
            <a:ext cx="2057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Probed on 10 draws: ALS matches truth to ≤10⁻³ dec; NLL drifted ±8 dec.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engineering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 features per sample from 20 log-spaced τ values.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decomposition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27632"/>
          <a:ext cx="43891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0080"/>
                <a:gridCol w="2514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σ values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stats × 20 τ: log₁₀ of ADEV, MDEV, HDEV, MHDEV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Log-log slopes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stats × 19 adjacent-τ slopes (noise-type signature)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Variance ratios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MVAR/AVAR (20) + MHVAR/HVAR (20) — bias-type detectors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Per-sample feature vector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0" y="12801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four statistics?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0" y="164592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ADEV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standard reference; baseline comparison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MDEV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distinguishes WPM vs FPM (slope −3 vs −2)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HDEV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Hadamard; rejects frequency drift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MHDEV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modified Hadamard; best for long τ on drifting clocks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0" y="3383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research hypothesis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367588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Feature-importance analysis will reveal which statistic carries the most information about KF noise parameters.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exploration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distributions, example σ(τ) curves, feature–target correlations.</a:t>
            </a:r>
            <a:endParaRPr lang="en-US" sz="1300" dirty="0"/>
          </a:p>
        </p:txBody>
      </p:sp>
      <p:pic>
        <p:nvPicPr>
          <p:cNvPr id="4" name="Image 0" descr="/home/ian/SigmaTau/ml/figures/eda_distribu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18872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89320" y="11887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989320" y="155448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span ~6 log decades (q2 widest; q0 tightest)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Short-τ features (top row) correlate strongest with q0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Long-τ features correlate with q2 (log₁₀ q ~ −30)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FPM-present samples (30%) have steeper short-τ slope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 rate 0%; no outliers at |z|&gt;5 — clean dataset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Statistical baselines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 bar: what does 'good' look like?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predictors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420624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132588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(log₁₀ q)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(train mean)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 / 0.87 / 1.73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Ignores features (R² ≈ 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MHDEV 3-region fit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slide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Real-data only, requires expert τ-regions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(ours)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 / 0.08 / 0.79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~18×/11×/2× vs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/home/ian/SigmaTau/ml/figures/eda_corr_feature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280160"/>
            <a:ext cx="3931920" cy="17373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937760" y="315468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pattern above: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short-τ features drive q0; long-τ features drive q2. </a:t>
            </a:r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 are monotonic but clearly nonlinear — motivates tree ensembles.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Methodology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+ XGBoost, multi-output regression.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4160520" cy="2468880"/>
          </a:xfrm>
          <a:prstGeom prst="rect">
            <a:avLst/>
          </a:prstGeom>
          <a:solidFill>
            <a:srgbClr val="F5F7FB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416052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1732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 Forest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Bagged ensemble of decision trees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UQ via tree-variance (forestci)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to monotone feature transforms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baseline for tabular data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280160"/>
            <a:ext cx="4160520" cy="2468880"/>
          </a:xfrm>
          <a:prstGeom prst="rect">
            <a:avLst/>
          </a:prstGeom>
          <a:solidFill>
            <a:srgbClr val="F5F7FB"/>
          </a:solidFill>
          <a:ln w="19050">
            <a:solidFill>
              <a:srgbClr val="E94F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1280160"/>
            <a:ext cx="4160520" cy="91440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41732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4F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 (Gradient Boosted)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00600" y="187452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boosting — corrects errors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Typically ~1–3× better RMSE than RF on tabular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UQ via quantile regression (α=0.05, 0.95)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Best-in-class for multi-output regression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3886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both?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94560" y="388620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Head-to-head comparison on identical features. Different bias/variance tradeoffs → diagnostic of whether signal is smooth (boosting wins) or rough (RF wins). UQ mechanisms differ — cross-check coverage.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Hyperparameter tuning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Two-pass 5-fold GridSearchCV: expand, then re-center around boundary winners.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12344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grid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72768"/>
          <a:ext cx="41148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554480"/>
                <a:gridCol w="1143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{1000, 1500, 2000}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max_depth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{20}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min_samples_leaf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{1, 2, 3}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{0.5}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663440" y="12344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grid</a:t>
            </a:r>
            <a:endParaRPr lang="en-US" sz="13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572768"/>
          <a:ext cx="41148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554480"/>
                <a:gridCol w="1143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4F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4F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4F6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{500, 750, 1000}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learning_rate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{0.003, 0.01}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max_depth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{6}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subsample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{0.7, 0.8}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3611880"/>
            <a:ext cx="8412480" cy="914400"/>
          </a:xfrm>
          <a:prstGeom prst="rect">
            <a:avLst/>
          </a:prstGeom>
          <a:solidFill>
            <a:srgbClr val="F5F7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8640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protocol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48640" y="3977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  •  Pass 1 landed on boundaries (n_est top, lr bottom, subsample bottom)  •  </a:t>
            </a:r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2 probe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45 RF + 60 XGB fits centered on pass-1 winners, extending past boundaries  →  </a:t>
            </a:r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winners are interior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scoring = neg-MSE in log₁₀-q; seed = 42.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Per-target metrics + model comparison.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34440"/>
          <a:ext cx="44805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005840"/>
                <a:gridCol w="1005840"/>
                <a:gridCol w="8229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home/ian/SigmaTau/ml/figures/model_comparison_rm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234440"/>
            <a:ext cx="3749040" cy="2651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65760" y="3931920"/>
            <a:ext cx="841248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400507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→ &lt;0.05-dec RMSE on q0 &amp; q1 (R² ≥ 0.997);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R² = 0.82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(vs 0.65 before switching labels from NLL → ALS).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Uncertainty quantification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Grad-student requirement — the model knows when it doesn't know.</a:t>
            </a:r>
            <a:endParaRPr lang="en-US" sz="1300" dirty="0"/>
          </a:p>
        </p:txBody>
      </p:sp>
      <p:pic>
        <p:nvPicPr>
          <p:cNvPr id="4" name="Image 0" descr="/home/ian/SigmaTau/ml/figures/rf_u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30352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715000" y="11887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complementary approaches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715000" y="155448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— forestci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Infinitesimal jackknife on tree predictions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analytic variance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— quantile regression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extra models at α=0.05, α=0.95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non-parametric prediction intervals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715000" y="3657600"/>
            <a:ext cx="3108960" cy="914400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06440" y="373075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90% PI coverage (XGB):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q0 84%   q1 81%   q2 81%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statistic carries the signal?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feature-importance answer to the sub-question.</a:t>
            </a:r>
            <a:endParaRPr lang="en-US" sz="1300" dirty="0"/>
          </a:p>
        </p:txBody>
      </p:sp>
      <p:pic>
        <p:nvPicPr>
          <p:cNvPr id="4" name="Image 0" descr="/home/ian/SigmaTau/ml/figures/importance_by_statis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39496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806440" y="1188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says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06440" y="1572768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MDEV dominates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(Σ importance ≈ 0.59)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MHDEV 5× less important (Σ ≈ 0.12)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ADEV / HDEV contribute the remaining ~0.29
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Slopes carry more signal than raw σ values —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with noise-type diagnostics driving q.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806440" y="3931920"/>
            <a:ext cx="3017520" cy="594360"/>
          </a:xfrm>
          <a:prstGeom prst="rect">
            <a:avLst/>
          </a:prstGeom>
          <a:solidFill>
            <a:srgbClr val="F5F7FB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0" y="3977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Contribution: </a:t>
            </a:r>
            <a:pPr indent="0" marL="0">
              <a:buNone/>
            </a:pPr>
            <a:r>
              <a:rPr lang="en-US" sz="10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MDEV is the most informative stability statistic for KF tuning.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Real-data validation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GMR6000 Rb phase → ML prediction → ADEV overlay on 4 windows.</a:t>
            </a:r>
            <a:endParaRPr lang="en-US" sz="1300" dirty="0"/>
          </a:p>
        </p:txBody>
      </p:sp>
      <p:pic>
        <p:nvPicPr>
          <p:cNvPr id="4" name="Image 0" descr="/home/ian/SigmaTau/ml/figures/real_data_method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188720"/>
            <a:ext cx="8869680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4343400"/>
            <a:ext cx="8412480" cy="475488"/>
          </a:xfrm>
          <a:prstGeom prst="rect">
            <a:avLst/>
          </a:prstGeom>
          <a:solidFill>
            <a:srgbClr val="F5F7FB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4389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&amp; XGB σ(τ) predictions track measured ADEV across all 4 windows — </a:t>
            </a:r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generalizes from synthetic to real hardware.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Takeaways &amp; limitations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2743200" cy="3520440"/>
          </a:xfrm>
          <a:prstGeom prst="rect">
            <a:avLst/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97280"/>
            <a:ext cx="274320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34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worked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30352" y="169164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labels → noise-free targets (key finding; lifted q2 R² from 0.65 → 0.82)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→ 0.004-dec RMSE on q0 (R² = 0.99998); &lt;0.05-dec on q1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forestci + quantile UQ → 80–84% empirical coverage of nominal 90% PIs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→ MDEV quantitatively most informative (5× MHDEV)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27832" y="1097280"/>
            <a:ext cx="2743200" cy="3520440"/>
          </a:xfrm>
          <a:prstGeom prst="rect">
            <a:avLst/>
          </a:prstGeom>
          <a:solidFill>
            <a:srgbClr val="F5F7FB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27832" y="1097280"/>
            <a:ext cx="2743200" cy="73152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92424" y="1234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4F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92424" y="169164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Rb GMR6000-class h-ranges only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3-state KF model lacks flicker-FM — limits long-horizon holdover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real-data record (6k27feb) for cross-check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90% PI under-covers by 6–10 pp (conservative regularization)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89904" y="1097280"/>
            <a:ext cx="2743200" cy="3520440"/>
          </a:xfrm>
          <a:prstGeom prst="rect">
            <a:avLst/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89904" y="1097280"/>
            <a:ext cx="274320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54496" y="1234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254496" y="169164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OCXO, HSO, cesium training ranges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4-state model with explicit FFM for sub-ns long-term holdover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NN on raw phase (current: hand-crafted features)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learning on where the model is least confident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3383280"/>
            <a:ext cx="36576" cy="1097280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364992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github.com/ianlap/SigmaTau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Ian Lapinski  •  PH 551 Final Project  •  April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KF Parameter Prediction from Stability Curves</dc:title>
  <dc:subject>PptxGenJS Presentation</dc:subject>
  <dc:creator>Ian Lapinski</dc:creator>
  <cp:lastModifiedBy>Ian Lapinski</cp:lastModifiedBy>
  <cp:revision>1</cp:revision>
  <dcterms:created xsi:type="dcterms:W3CDTF">2026-04-20T11:57:28Z</dcterms:created>
  <dcterms:modified xsi:type="dcterms:W3CDTF">2026-04-20T11:57:28Z</dcterms:modified>
</cp:coreProperties>
</file>